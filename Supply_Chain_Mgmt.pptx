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635" y="0"/>
            <a:ext cx="12190730" cy="68586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786890" y="828675"/>
            <a:ext cx="9525635" cy="4529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45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charset="0"/>
                <a:cs typeface="Segoe UI" panose="020B0502040204020203" charset="0"/>
              </a:rPr>
              <a:t>Project Goals</a:t>
            </a:r>
            <a:endParaRPr lang="en-US" altLang="en-US" sz="3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charset="0"/>
              <a:cs typeface="Segoe UI" panose="020B0502040204020203" charset="0"/>
            </a:endParaRPr>
          </a:p>
          <a:p>
            <a:pPr algn="ctr"/>
            <a:endParaRPr lang="en-US" altLang="en-US" sz="3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charset="0"/>
              <a:cs typeface="Segoe UI" panose="020B0502040204020203" charset="0"/>
            </a:endParaRPr>
          </a:p>
          <a:p>
            <a:pPr algn="ctr"/>
            <a:endParaRPr lang="en-US" altLang="en-US"/>
          </a:p>
          <a:p>
            <a:r>
              <a:rPr lang="en-US" altLang="en-US" sz="3000" b="1">
                <a:latin typeface="Segoe UI" panose="020B0502040204020203" charset="0"/>
                <a:cs typeface="Segoe UI" panose="020B0502040204020203" charset="0"/>
                <a:sym typeface="+mn-ea"/>
              </a:rPr>
              <a:t>✅	</a:t>
            </a:r>
            <a:r>
              <a:rPr lang="en-US" altLang="en-US" sz="3000">
                <a:latin typeface="Segoe UI" panose="020B0502040204020203" charset="0"/>
                <a:cs typeface="Segoe UI" panose="020B0502040204020203" charset="0"/>
              </a:rPr>
              <a:t>Centralized Supply Chain Monitoring</a:t>
            </a:r>
            <a:endParaRPr lang="en-US" altLang="en-US" sz="3000">
              <a:latin typeface="Segoe UI" panose="020B0502040204020203" charset="0"/>
              <a:cs typeface="Segoe UI" panose="020B0502040204020203" charset="0"/>
            </a:endParaRPr>
          </a:p>
          <a:p>
            <a:endParaRPr lang="en-US" altLang="en-US" sz="3000">
              <a:latin typeface="Segoe UI" panose="020B0502040204020203" charset="0"/>
              <a:cs typeface="Segoe UI" panose="020B0502040204020203" charset="0"/>
            </a:endParaRPr>
          </a:p>
          <a:p>
            <a:r>
              <a:rPr lang="en-US" altLang="en-US" sz="3000" b="1">
                <a:latin typeface="Segoe UI" panose="020B0502040204020203" charset="0"/>
                <a:cs typeface="Segoe UI" panose="020B0502040204020203" charset="0"/>
                <a:sym typeface="+mn-ea"/>
              </a:rPr>
              <a:t>✅	</a:t>
            </a:r>
            <a:r>
              <a:rPr lang="en-US" altLang="en-US" sz="3000">
                <a:latin typeface="Segoe UI" panose="020B0502040204020203" charset="0"/>
                <a:cs typeface="Segoe UI" panose="020B0502040204020203" charset="0"/>
                <a:sym typeface="+mn-ea"/>
              </a:rPr>
              <a:t>Optimize Operational Efficiency</a:t>
            </a:r>
            <a:endParaRPr lang="en-US" altLang="en-US" sz="3000">
              <a:latin typeface="Segoe UI" panose="020B0502040204020203" charset="0"/>
              <a:cs typeface="Segoe UI" panose="020B0502040204020203" charset="0"/>
            </a:endParaRPr>
          </a:p>
          <a:p>
            <a:endParaRPr lang="en-US" altLang="en-US" sz="3000" b="1">
              <a:latin typeface="Segoe UI" panose="020B0502040204020203" charset="0"/>
              <a:cs typeface="Segoe UI" panose="020B0502040204020203" charset="0"/>
              <a:sym typeface="+mn-ea"/>
            </a:endParaRPr>
          </a:p>
          <a:p>
            <a:r>
              <a:rPr lang="en-US" altLang="en-US" sz="3000" b="1">
                <a:latin typeface="Segoe UI" panose="020B0502040204020203" charset="0"/>
                <a:cs typeface="Segoe UI" panose="020B0502040204020203" charset="0"/>
                <a:sym typeface="+mn-ea"/>
              </a:rPr>
              <a:t>✅	</a:t>
            </a:r>
            <a:r>
              <a:rPr lang="en-US" altLang="en-US" sz="3000">
                <a:latin typeface="Segoe UI" panose="020B0502040204020203" charset="0"/>
                <a:cs typeface="Segoe UI" panose="020B0502040204020203" charset="0"/>
                <a:sym typeface="+mn-ea"/>
              </a:rPr>
              <a:t>Data-Driven Supplier &amp; Logistics Management</a:t>
            </a:r>
            <a:endParaRPr lang="en-US" altLang="en-US" sz="3000">
              <a:latin typeface="Segoe UI" panose="020B0502040204020203" charset="0"/>
              <a:cs typeface="Segoe UI" panose="020B0502040204020203" charset="0"/>
            </a:endParaRPr>
          </a:p>
          <a:p>
            <a:endParaRPr lang="en-US" altLang="en-US" sz="3000">
              <a:latin typeface="Segoe UI" panose="020B0502040204020203" charset="0"/>
              <a:cs typeface="Segoe UI" panose="020B0502040204020203" charset="0"/>
            </a:endParaRPr>
          </a:p>
          <a:p>
            <a:r>
              <a:rPr lang="en-US" altLang="en-US" sz="3000" b="1">
                <a:latin typeface="Segoe UI" panose="020B0502040204020203" charset="0"/>
                <a:cs typeface="Segoe UI" panose="020B0502040204020203" charset="0"/>
                <a:sym typeface="+mn-ea"/>
              </a:rPr>
              <a:t>✅	</a:t>
            </a:r>
            <a:r>
              <a:rPr lang="en-US" altLang="en-US" sz="3000">
                <a:latin typeface="Segoe UI" panose="020B0502040204020203" charset="0"/>
                <a:cs typeface="Segoe UI" panose="020B0502040204020203" charset="0"/>
              </a:rPr>
              <a:t>Improve Decision-Making</a:t>
            </a:r>
            <a:endParaRPr lang="en-US" altLang="en-US" sz="3000">
              <a:latin typeface="Segoe UI" panose="020B0502040204020203" charset="0"/>
              <a:cs typeface="Segoe UI" panose="020B0502040204020203" charset="0"/>
            </a:endParaRPr>
          </a:p>
          <a:p>
            <a:endParaRPr lang="en-US" altLang="en-US" sz="3000"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142365" y="380365"/>
            <a:ext cx="9950450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3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charset="0"/>
                <a:cs typeface="Segoe UI" panose="020B0502040204020203" charset="0"/>
                <a:sym typeface="+mn-ea"/>
              </a:rPr>
              <a:t>Data Integration &amp; Modeling</a:t>
            </a:r>
            <a:endParaRPr lang="en-US" sz="3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4530" y="1315720"/>
            <a:ext cx="5724525" cy="314134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439420" y="1710055"/>
            <a:ext cx="4507230" cy="2096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charset="0"/>
                <a:cs typeface="Segoe UI" panose="020B0502040204020203" charset="0"/>
                <a:sym typeface="+mn-ea"/>
              </a:rPr>
              <a:t>Date Integration</a:t>
            </a:r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charset="0"/>
              <a:cs typeface="Segoe UI" panose="020B0502040204020203" charset="0"/>
            </a:endParaRPr>
          </a:p>
          <a:p>
            <a:r>
              <a:rPr lang="en-US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charset="0"/>
                <a:cs typeface="Segoe UI" panose="020B0502040204020203" charset="0"/>
                <a:sym typeface="+mn-ea"/>
              </a:rPr>
              <a:t>This image shows a data model from a Power BI environment, with two tables: Financials and DateTable (Created Using DAX), connected via a relationship.</a:t>
            </a:r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439420" y="4146550"/>
            <a:ext cx="7019290" cy="2453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charset="0"/>
                <a:cs typeface="Segoe UI" panose="020B0502040204020203" charset="0"/>
                <a:sym typeface="+mn-ea"/>
              </a:rPr>
              <a:t>Data Model</a:t>
            </a:r>
            <a:endParaRPr lang="en-US" altLang="en-US" b="1">
              <a:latin typeface="Segoe UI" panose="020B0502040204020203" charset="0"/>
              <a:cs typeface="Segoe UI" panose="020B0502040204020203" charset="0"/>
            </a:endParaRPr>
          </a:p>
          <a:p>
            <a:r>
              <a:rPr lang="en-US" altLang="en-US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charset="0"/>
                <a:cs typeface="Segoe UI" panose="020B0502040204020203" charset="0"/>
                <a:sym typeface="+mn-ea"/>
              </a:rPr>
              <a:t>A one-to-many relationship (1:*) from DateTable to Financials, connected on the Date column.</a:t>
            </a:r>
            <a:endParaRPr lang="en-US" altLang="en-US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charset="0"/>
              <a:cs typeface="Segoe UI" panose="020B0502040204020203" charset="0"/>
            </a:endParaRPr>
          </a:p>
          <a:p>
            <a:r>
              <a:rPr lang="en-US" altLang="en-US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charset="0"/>
                <a:cs typeface="Segoe UI" panose="020B0502040204020203" charset="0"/>
                <a:sym typeface="+mn-ea"/>
              </a:rPr>
              <a:t>This means each date in the DateTable can map to many rows in the Financials table.</a:t>
            </a:r>
            <a:endParaRPr lang="en-US" altLang="en-US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charset="0"/>
              <a:cs typeface="Segoe UI" panose="020B0502040204020203" charset="0"/>
            </a:endParaRPr>
          </a:p>
          <a:p>
            <a:endParaRPr lang="en-US" altLang="en-US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charset="0"/>
              <a:cs typeface="Segoe UI" panose="020B0502040204020203" charset="0"/>
            </a:endParaRPr>
          </a:p>
          <a:p>
            <a:r>
              <a:rPr lang="en-US" altLang="en-US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charset="0"/>
                <a:cs typeface="Segoe UI" panose="020B0502040204020203" charset="0"/>
                <a:sym typeface="+mn-ea"/>
              </a:rPr>
              <a:t>This model allows for accurate time-based analysis, such as grouping financial data by month or year, using the richer DateTable.</a:t>
            </a:r>
            <a:endParaRPr lang="en-US" altLang="en-US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charset="0"/>
              <a:cs typeface="Segoe UI" panose="020B0502040204020203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635" y="131445"/>
            <a:ext cx="12192000" cy="854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3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charset="0"/>
                <a:cs typeface="Segoe UI" panose="020B0502040204020203" charset="0"/>
                <a:sym typeface="+mn-ea"/>
              </a:rPr>
              <a:t>DAX Measures &amp; Calculations</a:t>
            </a:r>
            <a:endParaRPr lang="en-US" altLang="en-US" sz="3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charset="0"/>
              <a:cs typeface="Segoe UI" panose="020B0502040204020203" charset="0"/>
            </a:endParaRPr>
          </a:p>
          <a:p>
            <a:pPr algn="ctr"/>
            <a:endParaRPr lang="en-US" sz="3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 descr="datameas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395" y="1452245"/>
            <a:ext cx="2784475" cy="481457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47395" y="1083945"/>
            <a:ext cx="2476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Measures Created</a:t>
            </a:r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3" name="Picture 12" descr="Date 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045" y="4116070"/>
            <a:ext cx="5476875" cy="178117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809365" y="5897245"/>
            <a:ext cx="3136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 Table using DAX</a:t>
            </a:r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Picture 7" descr="defect cou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1347470"/>
            <a:ext cx="4191000" cy="106680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7429500" y="858520"/>
            <a:ext cx="2432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Defective Count</a:t>
            </a:r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9" descr="turnov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040" y="2988945"/>
            <a:ext cx="4391660" cy="55245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8502015" y="3531870"/>
            <a:ext cx="3575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Inventory Turnover</a:t>
            </a:r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2" name="Picture 11" descr="defec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9045" y="1738630"/>
            <a:ext cx="3295650" cy="314325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3809365" y="2052955"/>
            <a:ext cx="1934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Avg Defect rate</a:t>
            </a:r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14" descr="units sol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7450" y="2775585"/>
            <a:ext cx="3762375" cy="342900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3736340" y="3164840"/>
            <a:ext cx="1802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 Sold</a:t>
            </a:r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849630" y="1934845"/>
            <a:ext cx="10916920" cy="2494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charset="0"/>
                <a:cs typeface="Segoe UI" panose="020B0502040204020203" charset="0"/>
                <a:sym typeface="+mn-ea"/>
              </a:rPr>
              <a:t>Interactive Dashboards </a:t>
            </a:r>
            <a:endParaRPr lang="en-US" altLang="en-US" sz="6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charset="0"/>
              <a:cs typeface="Segoe UI" panose="020B0502040204020203" charset="0"/>
            </a:endParaRPr>
          </a:p>
          <a:p>
            <a:pPr algn="ctr"/>
            <a:r>
              <a:rPr lang="en-US" alt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charset="0"/>
                <a:cs typeface="Segoe UI" panose="020B0502040204020203" charset="0"/>
                <a:sym typeface="+mn-ea"/>
              </a:rPr>
              <a:t>&amp; </a:t>
            </a:r>
            <a:endParaRPr lang="en-US" altLang="en-US" sz="6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charset="0"/>
              <a:cs typeface="Segoe UI" panose="020B0502040204020203" charset="0"/>
            </a:endParaRPr>
          </a:p>
          <a:p>
            <a:pPr algn="ctr"/>
            <a:r>
              <a:rPr lang="en-US" alt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charset="0"/>
                <a:cs typeface="Segoe UI" panose="020B0502040204020203" charset="0"/>
                <a:sym typeface="+mn-ea"/>
              </a:rPr>
              <a:t>Visualizations</a:t>
            </a:r>
            <a:endParaRPr lang="en-US" altLang="en-US" sz="6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charset="0"/>
              <a:cs typeface="Segoe UI" panose="020B0502040204020203" charset="0"/>
            </a:endParaRPr>
          </a:p>
          <a:p>
            <a:endParaRPr lang="en-US" sz="6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2.1"/>
          <p:cNvPicPr/>
          <p:nvPr/>
        </p:nvPicPr>
        <p:blipFill>
          <a:blip r:embed="rId1"/>
          <a:stretch>
            <a:fillRect/>
          </a:stretch>
        </p:blipFill>
        <p:spPr>
          <a:xfrm>
            <a:off x="690880" y="389890"/>
            <a:ext cx="10998000" cy="619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2.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60" y="405765"/>
            <a:ext cx="10955327" cy="619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2.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900" y="332740"/>
            <a:ext cx="10997565" cy="6192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2.4"/>
          <p:cNvPicPr/>
          <p:nvPr/>
        </p:nvPicPr>
        <p:blipFill>
          <a:blip r:embed="rId1"/>
          <a:stretch>
            <a:fillRect/>
          </a:stretch>
        </p:blipFill>
        <p:spPr>
          <a:xfrm>
            <a:off x="596900" y="333375"/>
            <a:ext cx="10998000" cy="619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820</Words>
  <Application>WPS Slides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Segoe UI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anime</dc:creator>
  <cp:lastModifiedBy>Relevance</cp:lastModifiedBy>
  <cp:revision>2</cp:revision>
  <dcterms:created xsi:type="dcterms:W3CDTF">2025-05-01T15:35:00Z</dcterms:created>
  <dcterms:modified xsi:type="dcterms:W3CDTF">2025-05-01T17:47:31Z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8847BFB8B6FA44BAAC286BB44958274B_11</vt:lpwstr>
  </property>
  <property fmtid="{D5CDD505-2E9C-101B-9397-08002B2CF9AE}" pid="3" name="KSOProductBuildVer">
    <vt:lpwstr>1033-12.2.0.20795</vt:lpwstr>
  </property>
</Properties>
</file>